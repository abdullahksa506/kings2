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6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طلعات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دورة 5</c:v>
                  </c:pt>
                  <c:pt idx="1">
                    <c:v>دورة 4</c:v>
                  </c:pt>
                  <c:pt idx="2">
                    <c:v>دورة 3</c:v>
                  </c:pt>
                  <c:pt idx="3">
                    <c:v>دورة 2</c:v>
                  </c:pt>
                  <c:pt idx="4">
                    <c:v>دورة 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هشام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3.33</c:v>
                </c:pt>
                <c:pt idx="1">
                  <c:v>4.5</c:v>
                </c:pt>
                <c:pt idx="2">
                  <c:v>4.5</c:v>
                </c:pt>
                <c:pt idx="3">
                  <c:v>4.6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حكير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4.13</c:v>
                </c:pt>
                <c:pt idx="2">
                  <c:v>4.5</c:v>
                </c:pt>
                <c:pt idx="3">
                  <c:v>4.5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خالد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4.67</c:v>
                </c:pt>
                <c:pt idx="1">
                  <c:v>4.6</c:v>
                </c:pt>
                <c:pt idx="2">
                  <c:v>4</c:v>
                </c:pt>
                <c:pt idx="3">
                  <c:v>3.25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طلال</c:v>
                </c:pt>
              </c:strCache>
            </c:strRef>
          </c:tx>
          <c:spPr>
            <a:solidFill>
              <a:srgbClr val="7C3AED"/>
            </a:solidFill>
            <a:ln w="381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د1</c:v>
                  </c:pt>
                  <c:pt idx="1">
                    <c:v>د2</c:v>
                  </c:pt>
                  <c:pt idx="2">
                    <c:v>د3</c:v>
                  </c:pt>
                  <c:pt idx="3">
                    <c:v>د4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4.5</c:v>
                </c:pt>
                <c:pt idx="1">
                  <c:v>3.67</c:v>
                </c:pt>
                <c:pt idx="2">
                  <c:v>4.03</c:v>
                </c:pt>
                <c:pt idx="3">
                  <c:v>3.25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3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المتوسط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حكير</c:v>
                  </c:pt>
                  <c:pt idx="1">
                    <c:v>هشام</c:v>
                  </c:pt>
                  <c:pt idx="2">
                    <c:v>طلال</c:v>
                  </c:pt>
                  <c:pt idx="3">
                    <c:v>نواف</c:v>
                  </c:pt>
                  <c:pt idx="4">
                    <c:v>خالد</c:v>
                  </c:pt>
                  <c:pt idx="5">
                    <c:v>شوكا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3.07</c:v>
                </c:pt>
                <c:pt idx="1">
                  <c:v>3.4</c:v>
                </c:pt>
                <c:pt idx="2">
                  <c:v>3.69</c:v>
                </c:pt>
                <c:pt idx="3">
                  <c:v>4</c:v>
                </c:pt>
                <c:pt idx="4">
                  <c:v>4.35</c:v>
                </c:pt>
                <c:pt idx="5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4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حكير ← طلال</c:v>
                </c:pt>
              </c:strCache>
            </c:strRef>
          </c:tx>
          <c:spPr>
            <a:solidFill>
              <a:srgbClr val="E11D48"/>
            </a:solidFill>
            <a:ln w="38100" cap="flat">
              <a:solidFill>
                <a:srgbClr val="E11D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11D48"/>
              </a:solidFill>
              <a:ln w="9525" cap="flat">
                <a:solidFill>
                  <a:srgbClr val="E11D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طلال ← حكير</c:v>
                </c:pt>
              </c:strCache>
            </c:strRef>
          </c:tx>
          <c:spPr>
            <a:solidFill>
              <a:srgbClr val="0284C7"/>
            </a:solidFill>
            <a:ln w="38100" cap="flat">
              <a:solidFill>
                <a:srgbClr val="0284C7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0284C7"/>
              </a:solidFill>
              <a:ln w="9525" cap="flat">
                <a:solidFill>
                  <a:srgbClr val="0284C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د2</c:v>
                  </c:pt>
                  <c:pt idx="1">
                    <c:v>د3</c:v>
                  </c:pt>
                  <c:pt idx="2">
                    <c:v>د3</c:v>
                  </c:pt>
                  <c:pt idx="3">
                    <c:v>د4</c:v>
                  </c:pt>
                  <c:pt idx="4">
                    <c:v>د5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/>
                </c:pt>
                <c:pt idx="3">
                  <c:v>4</c:v>
                </c:pt>
                <c:pt idx="4">
                  <c:v/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المعدل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شوكا</c:v>
                  </c:pt>
                  <c:pt idx="2">
                    <c:v>طلال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3.85</c:v>
                </c:pt>
                <c:pt idx="2">
                  <c:v>3.86</c:v>
                </c:pt>
                <c:pt idx="3">
                  <c:v>4.13</c:v>
                </c:pt>
                <c:pt idx="4">
                  <c:v>4.23</c:v>
                </c:pt>
                <c:pt idx="5">
                  <c:v>4.53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التقييم</c:v>
                </c:pt>
              </c:strCache>
            </c:strRef>
          </c:tx>
          <c:spPr>
            <a:solidFill>
              <a:srgbClr val="0284C7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هشام</c:v>
                  </c:pt>
                  <c:pt idx="2">
                    <c:v>حكير</c:v>
                  </c:pt>
                  <c:pt idx="3">
                    <c:v>شوكا</c:v>
                  </c:pt>
                  <c:pt idx="4">
                    <c:v>طلال</c:v>
                  </c:pt>
                  <c:pt idx="5">
                    <c:v>خالد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79</c:v>
                </c:pt>
                <c:pt idx="2">
                  <c:v>79</c:v>
                </c:pt>
                <c:pt idx="3">
                  <c:v>89</c:v>
                </c:pt>
                <c:pt idx="4">
                  <c:v>94</c:v>
                </c:pt>
                <c:pt idx="5">
                  <c:v>94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قبل</c:v>
                </c:pt>
              </c:strCache>
            </c:strRef>
          </c:tx>
          <c:spPr>
            <a:solidFill>
              <a:srgbClr val="78716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3.29</c:v>
                </c:pt>
                <c:pt idx="1">
                  <c:v>3.7</c:v>
                </c:pt>
                <c:pt idx="2">
                  <c:v>3.95</c:v>
                </c:pt>
                <c:pt idx="3">
                  <c:v>4.14</c:v>
                </c:pt>
                <c:pt idx="4">
                  <c:v>4.23</c:v>
                </c:pt>
                <c:pt idx="5">
                  <c:v>4.45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بعد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9252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نواف</c:v>
                  </c:pt>
                  <c:pt idx="1">
                    <c:v>طلال</c:v>
                  </c:pt>
                  <c:pt idx="2">
                    <c:v>شوكا</c:v>
                  </c:pt>
                  <c:pt idx="3">
                    <c:v>خالد</c:v>
                  </c:pt>
                  <c:pt idx="4">
                    <c:v>هشام</c:v>
                  </c:pt>
                  <c:pt idx="5">
                    <c:v>حكير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3.73</c:v>
                </c:pt>
                <c:pt idx="1">
                  <c:v>4.21</c:v>
                </c:pt>
                <c:pt idx="2">
                  <c:v>3.93</c:v>
                </c:pt>
                <c:pt idx="3">
                  <c:v>4.42</c:v>
                </c:pt>
                <c:pt idx="4">
                  <c:v>4.56</c:v>
                </c:pt>
                <c:pt idx="5">
                  <c:v>4.77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9252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6"/>
          <c:min val="0"/>
        </c:scaling>
        <c:delete val="0"/>
        <c:axPos val="b"/>
        <c:majorGridlines>
          <c:spPr>
            <a:ln w="12700" cap="flat">
              <a:solidFill>
                <a:srgbClr val="E7E5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8716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عرض مبني بالكامل على بيانات التطبيق الحقيقية، لا على انطباعات.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مقدّمة العرض — عدّل النص كما تشاء، التنسيق يتكيّف.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نداء المعركة — يُعرض قبل الدخول في الأرقام، أو يُستخدم كشريحة افتتاح بديلة.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المادة (1) من الدستور — وصف ومكانة عميد الدستور.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الدورة الخامسة ما زالت جارية — ثلاث طلعات من 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النقطة: الأمجاد القديمة تزن بقدر المستوى الحالي تماماً — وهذا غير عادل للمتحسّنين.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بترتيبها الزمني — وهي مفتاح الشريحة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استراحة — تخفّف الجو بعد قسم الحرب وقبل الترتيب.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المواد سارية من الدورة السادسة، وتُراجَع في نهاية كل دورة.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657600"/>
            <a:ext cx="5852160" cy="58521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2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دستور عرش الخميس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النسخة الثانية عشرة — إصلاح نظام الترتيب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429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 مواد مبنية على تحليل 94 تقييماً و31 طلعة عبر خمس دورات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97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أغسطس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206240" y="-3291840"/>
            <a:ext cx="7315200" cy="7315200"/>
          </a:xfrm>
          <a:prstGeom prst="ellipse">
            <a:avLst/>
          </a:prstGeom>
          <a:solidFill>
            <a:srgbClr val="241E16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6400800" cy="6400800"/>
          </a:xfrm>
          <a:prstGeom prst="ellipse">
            <a:avLst/>
          </a:prstGeom>
          <a:solidFill>
            <a:srgbClr val="241E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66928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مقدّمة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07899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تكن لعبة… حتى صارت دولة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D6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مساء خميسٍ عادي، اجتمع ستة على مائدة. لم يخطر لأحدهم أن اختيار مطعمٍ قد يصير عرشاً يتناوبون عليه، وله ملوكٌ ودورات وقائمة شرف.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077200" y="3127248"/>
            <a:ext cx="3444240" cy="1051560"/>
          </a:xfrm>
          <a:prstGeom prst="roundRect">
            <a:avLst>
              <a:gd name="adj" fmla="val 8696"/>
            </a:avLst>
          </a:prstGeom>
          <a:solidFill>
            <a:srgbClr val="241F1B"/>
          </a:solidFill>
          <a:ln w="12700">
            <a:solidFill>
              <a:srgbClr val="4A3F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77200" y="3246120"/>
            <a:ext cx="344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077200" y="3767328"/>
            <a:ext cx="344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8640" y="3127248"/>
            <a:ext cx="3444240" cy="1051560"/>
          </a:xfrm>
          <a:prstGeom prst="roundRect">
            <a:avLst>
              <a:gd name="adj" fmla="val 8696"/>
            </a:avLst>
          </a:prstGeom>
          <a:solidFill>
            <a:srgbClr val="241F1B"/>
          </a:solidFill>
          <a:ln w="12700">
            <a:solidFill>
              <a:srgbClr val="4A3F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58640" y="3246120"/>
            <a:ext cx="344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4358640" y="3767328"/>
            <a:ext cx="344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127248"/>
            <a:ext cx="3444240" cy="1051560"/>
          </a:xfrm>
          <a:prstGeom prst="roundRect">
            <a:avLst>
              <a:gd name="adj" fmla="val 8696"/>
            </a:avLst>
          </a:prstGeom>
          <a:solidFill>
            <a:srgbClr val="241F1B"/>
          </a:solidFill>
          <a:ln w="12700">
            <a:solidFill>
              <a:srgbClr val="4A3F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3246120"/>
            <a:ext cx="344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3767328"/>
            <a:ext cx="344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498848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5000"/>
              </a:lnSpc>
              <a:buNone/>
            </a:pPr>
            <a:r>
              <a:rPr lang="en-US" sz="1700" dirty="0">
                <a:solidFill>
                  <a:srgbClr val="D6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وحين كبرت اللعبة كبرت معها خلافاتها، فلم يعد الذوق وحده يكفي. صار لا بدّ من ميزانٍ يرضاه الجميع قبل أن يعرفوا لمن سيميل.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532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هذا الدستور ليس قيداً على أحد — بل ضمانٌ ألّا يُظلم أحد.</a:t>
            </a:r>
            <a:endParaRPr lang="en-US" sz="2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19963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  ·  شوكا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C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3840480" y="-2926080"/>
            <a:ext cx="8229600" cy="8229600"/>
          </a:xfrm>
          <a:prstGeom prst="ellipse">
            <a:avLst/>
          </a:prstGeom>
          <a:solidFill>
            <a:srgbClr val="2A1114"/>
          </a:solidFill>
          <a:ln/>
        </p:spPr>
      </p:sp>
      <p:sp>
        <p:nvSpPr>
          <p:cNvPr id="3" name="Shape 1"/>
          <p:cNvSpPr/>
          <p:nvPr/>
        </p:nvSpPr>
        <p:spPr>
          <a:xfrm>
            <a:off x="9052560" y="2743200"/>
            <a:ext cx="7498080" cy="7498080"/>
          </a:xfrm>
          <a:prstGeom prst="ellipse">
            <a:avLst/>
          </a:prstGeom>
          <a:solidFill>
            <a:srgbClr val="2A111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50292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الدورة السادسة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9601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800" b="1" dirty="0">
                <a:solidFill>
                  <a:srgbClr val="FAFA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يبقَ إلا فصلٌ واحد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ستة ملوك.  عرشٌ واحد.  ودورةٌ أخيرة تزن ضعفين ونصفاً.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077200" y="2697480"/>
            <a:ext cx="3444240" cy="1371600"/>
          </a:xfrm>
          <a:prstGeom prst="roundRect">
            <a:avLst>
              <a:gd name="adj" fmla="val 6667"/>
            </a:avLst>
          </a:prstGeom>
          <a:solidFill>
            <a:srgbClr val="1C1414"/>
          </a:solidFill>
          <a:ln w="12700">
            <a:solidFill>
              <a:srgbClr val="3F242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077200" y="2852928"/>
            <a:ext cx="344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0.007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214360" y="3493008"/>
            <a:ext cx="316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يفصل الأول عن الثاني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58640" y="2697480"/>
            <a:ext cx="3444240" cy="1371600"/>
          </a:xfrm>
          <a:prstGeom prst="roundRect">
            <a:avLst>
              <a:gd name="adj" fmla="val 6667"/>
            </a:avLst>
          </a:prstGeom>
          <a:solidFill>
            <a:srgbClr val="1C1414"/>
          </a:solidFill>
          <a:ln w="12700">
            <a:solidFill>
              <a:srgbClr val="3F24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58640" y="2852928"/>
            <a:ext cx="344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+0.90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4495800" y="3493008"/>
            <a:ext cx="316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تمنحه عزيمة البيت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697480"/>
            <a:ext cx="3444240" cy="1371600"/>
          </a:xfrm>
          <a:prstGeom prst="roundRect">
            <a:avLst>
              <a:gd name="adj" fmla="val 6667"/>
            </a:avLst>
          </a:prstGeom>
          <a:solidFill>
            <a:srgbClr val="1C1414"/>
          </a:solidFill>
          <a:ln w="12700">
            <a:solidFill>
              <a:srgbClr val="3F24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2852928"/>
            <a:ext cx="3444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×2.5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493008"/>
            <a:ext cx="3169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8A2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وزن هذه الدورة وحدها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343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D6D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عزم في بيته تُوِّج.  ومن كرّر مطعماً سقط.  ومن تأخّر عن الحسم خسر دوره.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تُورَث هذه السنة — تُنتزَع.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الميدان مفتوح  ·  والحساب يبدأ من الطلعة القادمة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عرش الخميس — من نحن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ست أشخاص، طلعة كل أسبوع، وملك يتناوب على اختيار المطعم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87552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49731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9731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96696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4.14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996696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28432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50224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50224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119872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19872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3.70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81344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03136" y="19385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03136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72784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3.95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4256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956048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048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25696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4425696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4.45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425696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87168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08960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08960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2578608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2578608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2578608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1737360"/>
            <a:ext cx="16459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261872" y="1938528"/>
            <a:ext cx="402336" cy="402336"/>
          </a:xfrm>
          <a:prstGeom prst="ellipse">
            <a:avLst/>
          </a:prstGeom>
          <a:solidFill>
            <a:srgbClr val="D6D3D1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261872" y="1938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248716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</a:t>
            </a:r>
            <a:endParaRPr lang="en-US" sz="17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2889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3.29</a:t>
            </a:r>
            <a:endParaRPr lang="en-US" sz="19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3291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عضو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40416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أعلاه هو ترتيب التتويج — من يتولّى العرش أولاً في كل دورة. والرقم هو معدّله الحالي.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04672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0835640" y="47548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083564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32104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الملك يختار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832104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 الدور يحدّد المطعم واليوم، وله أن يفتح تصويتاً أو يحكم منفرداً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434340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132320" y="47548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13232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النصاب شرط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461772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تُحتسب الطلعة إلا بحضور آكلَين غير الملك — والحضور الشرفي لا يُعد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4526280"/>
            <a:ext cx="34747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3429000" y="47548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429000" y="4754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47731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التقييم سرّي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914400" y="52578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من ذاق يمنح من 1 إلى 5، وهوية المصوّت لا يعرفها إلا العميد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194560"/>
            <a:ext cx="4754880" cy="4754880"/>
          </a:xfrm>
          <a:prstGeom prst="ellipse">
            <a:avLst/>
          </a:prstGeom>
          <a:solidFill>
            <a:srgbClr val="332811"/>
          </a:solidFill>
          <a:ln/>
        </p:spPr>
      </p:sp>
      <p:sp>
        <p:nvSpPr>
          <p:cNvPr id="3" name="Shape 1"/>
          <p:cNvSpPr/>
          <p:nvPr/>
        </p:nvSpPr>
        <p:spPr>
          <a:xfrm>
            <a:off x="9427464" y="557784"/>
            <a:ext cx="1993392" cy="1993392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4" name="Image 0" descr="/home/user/kings2/deck/.cache/sq_شوك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73184" y="603504"/>
            <a:ext cx="1901952" cy="1901952"/>
          </a:xfrm>
          <a:prstGeom prst="ellipse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7498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عميد الدستور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18872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8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5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76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ملك التذوق الأعظم لعام 2026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52374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المؤتمن على المصالح العليا للمجموعة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0080" y="29352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844784" y="30906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844784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30632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المرجع الأول والأخير في تفسير الدستور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" y="34015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وإليه يُرفع كل خلاف في قراءة بنوده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40080" y="38496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10844784" y="40050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844784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914400" y="39776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السلطة التشريعية — الصوت الوحيد بحق التعديل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3159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تُعدَّل مادة إلا بقراره ومعه موافقة عضوين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40080" y="47640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0844784" y="49194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10844784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8920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صلاحية المصلحة العليا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5230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 وحده أن يثني أي قانون عادي أو يمنح استثناءً طارئاً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678424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10844784" y="583387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844784" y="58338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914400" y="580644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أمين النتائج والسجلات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14400" y="61447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يُيسّر الطلعات ويحدّث النتائج بسرية وأمانة — فضلاً لا أمراً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الأسباب التاريخية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أوصلنا إلى هنا؟ ثلاثة اكتشافات من البيانات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الرحلة بالأرقام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ما سجّله التطبيق منذ أول طلعة موثّقة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41832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55548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55548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مسجّلة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9224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2940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مطعماً مختلفاً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6616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70332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دورات كاملة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1691640"/>
            <a:ext cx="26974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1837944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53288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تقييماً موثّقاً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429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طلعات كل دورة</a:t>
            </a:r>
            <a:endParaRPr lang="en-US" sz="19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40080" y="3931920"/>
          <a:ext cx="1088136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ذاكرة الطلعات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155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تقوله السجلات عن عاداتنا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21792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أعلى ثلاث طلعات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ماما نورة — حكير — 5.00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بيت شوكا — شوكا — 5.00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فيردي — حكير — 5.00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645920"/>
            <a:ext cx="5303520" cy="1965960"/>
          </a:xfrm>
          <a:prstGeom prst="roundRect">
            <a:avLst>
              <a:gd name="adj" fmla="val 4186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أدنى ثلاث طلعات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3042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MOLT — نواف — 2.00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2688336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 الشرفه — طلال — 2.75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07238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house — خالد — 3.25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35640" y="406908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3564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الخميس 23 · الجمعة 7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يوم الطلعة — الخميس يحكم، والجمعة بديل متكرر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4340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32320" y="4069080"/>
            <a:ext cx="402336" cy="402336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61772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61772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الحضور الإجمالية — 40 اعتذاراً من 186 حضوراً ممكناً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840480"/>
            <a:ext cx="347472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429000" y="4069080"/>
            <a:ext cx="402336" cy="40233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42900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" y="4087368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مطاعم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45902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تكرّرت زيارتها: مستر برياني · كوجة · سوله · Buffalo · Steak house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مسار كل ملك عبر الدورات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 في صعود مستمر، وخالد وطلال في هبوط — والمعدّل الحالي يعامل كل الدورات سواء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الأول: كل واحد له مسطرة مختلفة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ما يمنحه كل عضو من درجات — الفارق بين أقسى وأكرم مقيّم 1.74 درجة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يعني هذا؟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3774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مطعمك يُحكم عليه بمن صادف أن قيّمه، لا بجودته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2004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 قيّمك شوكا ربحت، ولو قيّمك حكير خسرت — والمطعم واحد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420624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عناداً، بل رد فعل منطقي على مقياس غير موحّد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طرفا النزاع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قبل الأرقام — من هما، وماذا يقول سجلّهما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0" y="1874520"/>
            <a:ext cx="2194560" cy="219456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5" name="Image 0" descr="/home/user/kings2/deck/.cache/sq_حكير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920240"/>
            <a:ext cx="2103120" cy="21031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4944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المتصدّر · 4.45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1005840" y="1874520"/>
            <a:ext cx="2194560" cy="2194560"/>
          </a:xfrm>
          <a:prstGeom prst="ellipse">
            <a:avLst/>
          </a:prstGeom>
          <a:solidFill>
            <a:srgbClr val="0284C7"/>
          </a:solidFill>
          <a:ln/>
        </p:spPr>
      </p:sp>
      <p:pic>
        <p:nvPicPr>
          <p:cNvPr id="9" name="Image 1" descr="/home/user/kings2/deck/.cache/sq_طلا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920240"/>
            <a:ext cx="2103120" cy="21031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0080" y="41788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5994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الخامس · 3.70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3566160" y="23317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ضد</a:t>
            </a:r>
            <a:endParaRPr lang="en-US" sz="3000" dirty="0"/>
          </a:p>
        </p:txBody>
      </p:sp>
      <p:sp>
        <p:nvSpPr>
          <p:cNvPr id="13" name="Shape 9"/>
          <p:cNvSpPr/>
          <p:nvPr/>
        </p:nvSpPr>
        <p:spPr>
          <a:xfrm>
            <a:off x="3566160" y="2926080"/>
            <a:ext cx="3291840" cy="1143000"/>
          </a:xfrm>
          <a:prstGeom prst="roundRect">
            <a:avLst>
              <a:gd name="adj" fmla="val 720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3703320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خمس طلعات تبادلا فيها التقييم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03320" y="3474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وثلاث طلعات في الاتجاه الآخر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40080" y="53492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960120" y="5596128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أعطى طلال: 3 · 3 · 4 · 1 · 1     |     طلال أعطى حكير: 2 · 3 · 4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الثاني: خريطة العداوة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ينزل كل عضو تحت متوسطه الشخصي حين يقيّم خصمه — بعد استبعاد أثر كونه قاسياً أو كريماً أصلاً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9224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 ↔  طلال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 ينزل 0.67   ·   طلال ينزل 0.69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متبادلة شبه متكافئة — كلاهما يخسر بالقدر نفسه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5303520" cy="1874520"/>
          </a:xfrm>
          <a:prstGeom prst="roundRect">
            <a:avLst>
              <a:gd name="adj" fmla="val 4390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14400" y="199339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 ↔  نواف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4871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 ينزل 0.31   ·   نواف ينزل 1.00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926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عداوة خفية لم ينتبه لها أحد — أقوى من طرفَي الحرب المعلنة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60120" y="4005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بقيت عداوة نواف مخفية؟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4348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لأن نواف يقيّم 37% فقط من الطلعات. أثره الحقيقي مكتوم خلف غيابه عن التصويت — وهذا بالضبط ما تعالجه مسألة المشاركة.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تشريح الحرب: من صعّد فعلاً؟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تسلسل تقييمات حكير وطلال لبعضهما عبر الدورات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8006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0292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طلال لم يمنح حكير درجة 1 ولا مرة في التاريخ كله — أسوأ ما أعطاه 2، وآخر تقييم منحه كان 4.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4681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وصف «حرب متبادلة» غير دقيق: طلال يهدّئ وحكير يصعّد. تصحيح هذا الالتباس وحده قد ينهي النزاع.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الاكتشاف الثالث: صوت واحد يقلب طلعة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كم يهبط معدّل الطلعة حين يمنحها شخص واحد درجة 1 بدل 4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مقيّمين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4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720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45008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مقيّمين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5008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0.75</a:t>
            </a:r>
            <a:endParaRPr lang="en-US" sz="4600" dirty="0"/>
          </a:p>
        </p:txBody>
      </p:sp>
      <p:sp>
        <p:nvSpPr>
          <p:cNvPr id="11" name="Text 9"/>
          <p:cNvSpPr txBox="1"/>
          <p:nvPr/>
        </p:nvSpPr>
        <p:spPr>
          <a:xfrm>
            <a:off x="445008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320" y="1691640"/>
            <a:ext cx="335280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077200" y="19202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مقيّمين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077200" y="2331720"/>
            <a:ext cx="298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4600" dirty="0"/>
          </a:p>
        </p:txBody>
      </p:sp>
      <p:sp>
        <p:nvSpPr>
          <p:cNvPr id="15" name="Text 13"/>
          <p:cNvSpPr txBox="1"/>
          <p:nvPr/>
        </p:nvSpPr>
        <p:spPr>
          <a:xfrm>
            <a:off x="8077200" y="3291840"/>
            <a:ext cx="298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درجة ضرر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206240"/>
            <a:ext cx="10881360" cy="1554480"/>
          </a:xfrm>
          <a:prstGeom prst="roundRect">
            <a:avLst>
              <a:gd name="adj" fmla="val 5294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443484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كلما زاد عدد المقيّمين، ضعُف أثر أي مخرّب — دون أي سياسة ولا خصام.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8920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متوسط المشاركة اليوم 3.9 من 5. رفعه إلى 5 يقلّص قوة أي تصويت انتقامي بنسبة 40%.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إحصائيات ما لها داعي… بس حلوة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استراحة قصيرة قبل ما نرجع للجد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04672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7532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27532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عزائم البيوت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30275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مقابل 3.87 للمطاعم. ثلاث عزائم بيوت فقط، وكلها في قمة السجل. الخلاصة: بيوتكم أطيب من مطاعم الرياض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4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الجمعة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أفضل من الخميس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4.15 مقابل 3.94. اسم المجموعة «ملك الخميس» ويومكم الأحلى هو الجمعة. نفكّر في تغيير الاسم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169164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EF3C7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68680" y="189280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81%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247802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أصوات شوكا خمسات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86207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العميد لم يمنح درجة 3 ولا مرة في تاريخه — ثلاث عشرة خمسة من ست عشرة. تقييم أم مجاملة؟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4672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27532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اعتذار لنواف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0275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ضعف أي عضو آخر (طلال وحكير 6 لكل واحد). حضوره نادر، لكن أثر غيابه على الترتيب ليس نادراً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34340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المطاعم المكرّرة نزلت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أربعة من خمسة. Buffalo هبط من 4.67 إلى 3.25، وكوجة من 4.60 إلى 3.60. التكرار يقتل الحماس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69080"/>
            <a:ext cx="3474720" cy="2121408"/>
          </a:xfrm>
          <a:prstGeom prst="roundRect">
            <a:avLst>
              <a:gd name="adj" fmla="val 3879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68680" y="427024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48554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 الدورة الخامسة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5239512"/>
            <a:ext cx="296265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كان 4.00 في الثانية والثالثة. ليست المطاعم التي ساءت — نحن الذين صرنا أقسى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الوضع الحالي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أين نقف اليوم، وما الذي تكشفه أرقام الحرب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الحالي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معدّلات الدورات المكتملة الأربع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108813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دليل الحرب: مطعم الشرفه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طلال في الدورة الخامسة — أدنى تقييم في تاريخ المجموعة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حكير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336042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4330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هشام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4330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Shape 8"/>
          <p:cNvSpPr/>
          <p:nvPr/>
        </p:nvSpPr>
        <p:spPr>
          <a:xfrm>
            <a:off x="608076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6364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خالد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13" name="Shape 11"/>
          <p:cNvSpPr/>
          <p:nvPr/>
        </p:nvSpPr>
        <p:spPr>
          <a:xfrm>
            <a:off x="8801100" y="1691640"/>
            <a:ext cx="24917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83980" y="1874520"/>
            <a:ext cx="21259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شوكا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983980" y="2240280"/>
            <a:ext cx="21259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10881360" cy="2011680"/>
          </a:xfrm>
          <a:prstGeom prst="roundRect">
            <a:avLst>
              <a:gd name="adj" fmla="val 4091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المحصّلة: 2.75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434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طلعة واحدة أنزلت طلال من المركز الرابع إلى الخامس. وسبقتها ماء ورد بالنمط نفسه في الدورة الرابعة.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6012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 المادة (12) — الطلعة المعفوّة — كانت هذه الليلة ستسقط تلقائياً ولا يبقى لها أثر.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فجوة المشاركة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نسبة الطلعات التي قيّمها كل عضو من أصل ما يحق له تقييمه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206240" y="1600200"/>
          <a:ext cx="7315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1600200"/>
            <a:ext cx="3291840" cy="4206240"/>
          </a:xfrm>
          <a:prstGeom prst="roundRect">
            <a:avLst>
              <a:gd name="adj" fmla="val 2500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1440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نواف: 7 من 19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4688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غيابه عن التصويت وحده يكفي لإسقاط المتصدّر من المركز الأول إلى الثالث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566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العضو الأخير في الترتيب يملك قرار من يفوز — دون أن يدلي بصوت واحد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5740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803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7490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الذي يتغيّر في الدستور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(12) والمادة (13)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الطلعة المعفوّة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تُسقَط أسوأ طلعة واحدة من سجل كل ملك عند احتساب الترتيب، بشرط أن يكون في سجله أربع طلعات فأكثر.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أي هجوم منسّق على ليلة واحدة يسقط تلقائياً، فلا يُحاسَب أحد عمراً كاملاً على ليلة واحدة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E0F2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0284C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0759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التنحّي لتعارض المصالح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ثبتت خصومة بين عضوين، لا يُحتسب تقييم أيٍّ منهما على طلعة الآخر — بقرار العميد وموافقة عضوين.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3659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شرط الحماية — لا يُطبَّق التنحّي إذا كان سيُبقي الطلعة بأقل من ثلاثة مقيّمين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20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369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عند اختبار المادة بلا هذا الشرط، بلغ معدّل أحد الملوك 5.00 كاملة من مقيّم واحد فقط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المادة (14) والمادة (15)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10881360" cy="2148840"/>
          </a:xfrm>
          <a:prstGeom prst="roundRect">
            <a:avLst>
              <a:gd name="adj" fmla="val 3830"/>
            </a:avLst>
          </a:prstGeom>
          <a:solidFill>
            <a:srgbClr val="EDE9FE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0835640" y="1417320"/>
            <a:ext cx="457200" cy="4572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3564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417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5B21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ترجيح الدورة الأخيرة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190195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تُحتسب الدورة المكتملة الأخيرة بوزن 2.5 — كأنها دورتان ونصف — وباقي الدورات بوزن 1، ولا تدخل دورة الحساب قبل أن يلعبها الستة.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957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الأثر: الدورة الجارية تحسم الترتيب أكثر من كل ما سبقها — من تحسّن يصعد بسرعة، ومن تراجع ينزل بسرعة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881360" cy="2377440"/>
          </a:xfrm>
          <a:prstGeom prst="roundRect">
            <a:avLst>
              <a:gd name="adj" fmla="val 3462"/>
            </a:avLst>
          </a:prstGeom>
          <a:solidFill>
            <a:srgbClr val="FFE4E6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35640" y="3749040"/>
            <a:ext cx="457200" cy="45720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35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374904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9F123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بطلان التواطؤ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423367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كل اتفاق مسبق على منح درجة محدّدة لشخص بعينه — بصرف النظر عن التجربة — باطل ولا أثر له، سواء أُبرم قبل هذا الدستور أو بعده.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77316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الجزاء: يُلغى تقييم المتواطئ على تلك الطلعة، وعند التكرار لبقية الدورة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515721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بيد العميد وموافقة عضوين، وفق آلية المادة (1)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2925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النتيجة على الأرقام الحقيقية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الترتيب قبل التعديلات وبعدها — محسوباً على كل بيانات التطبيق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10881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D1FAE5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960120" y="5285232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المراكز الأربعة الأولى كما هي. التغيير الوحيد: طلال يصعد للرابع وشوكا ينزل للخامس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5715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المستفيدين نواف (+0.44) وطلال (+0.51) — وهما ضحيّتا الحرب. وصاحب الاقتراح الوحيد الذي يخسر مركزاً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C19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4206240"/>
            <a:ext cx="4937760" cy="4937760"/>
          </a:xfrm>
          <a:prstGeom prst="ellipse">
            <a:avLst/>
          </a:prstGeom>
          <a:solidFill>
            <a:srgbClr val="3D2E1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الخلاصة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1883664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844784" y="2039112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844784" y="2039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011680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الحرب ليست عناداً — بل رد فعل على مقياس غير موحّد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3500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الفارق بين أقسى وأكرم مقيّم 1.74 درجة، وهو أكبر من الفارق بين أي مركزين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90672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844784" y="3246120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844784" y="32461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18688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المواد الأربع تنزع السلاح دون أن تمسّ أحداً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3557016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تُسكت صوتاً ولا تُغيّر مركزاً — تعالج الآلية لا الأشخاص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10881360" cy="1115568"/>
          </a:xfrm>
          <a:prstGeom prst="roundRect">
            <a:avLst>
              <a:gd name="adj" fmla="val 7377"/>
            </a:avLst>
          </a:prstGeom>
          <a:solidFill>
            <a:srgbClr val="2A2522"/>
          </a:solidFill>
          <a:ln w="12700">
            <a:solidFill>
              <a:srgbClr val="E7E5E4"/>
            </a:solidFill>
            <a:prstDash val="solid"/>
          </a:ln>
          <a:effectLst>
            <a:outerShdw sx="100000" sy="100000" kx="0" ky="0" algn="bl" rotWithShape="0" blurRad="1016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844784" y="4453128"/>
            <a:ext cx="402336" cy="40233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844784" y="4453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425696"/>
            <a:ext cx="9784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b="1" dirty="0">
                <a:solidFill>
                  <a:srgbClr val="F5F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تدخل حيّز التنفيذ فور اعتمادها من عميد الدستور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764024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وتُراجَع في نهاية كل دورة، ويُلغى منها ما لم يُجدَّد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7150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سارية اعتباراً من الدورة السادسة.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2026-08-27T16:03:11Z</dcterms:created>
  <dcterms:modified xsi:type="dcterms:W3CDTF">2026-08-27T16:03:11Z</dcterms:modified>
</cp:coreProperties>
</file>