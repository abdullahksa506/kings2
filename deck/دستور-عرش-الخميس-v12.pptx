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طلعات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دورة 5</c:v>
                  </c:pt>
                  <c:pt idx="1">
                    <c:v>دورة 4</c:v>
                  </c:pt>
                  <c:pt idx="2">
                    <c:v>دورة 3</c:v>
                  </c:pt>
                  <c:pt idx="3">
                    <c:v>دورة 2</c:v>
                  </c:pt>
                  <c:pt idx="4">
                    <c:v>دورة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b"/>
        <c:majorGridlines>
          <c:spPr>
            <a:ln w="1270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هشام</c:v>
                </c:pt>
              </c:strCache>
            </c:strRef>
          </c:tx>
          <c:spPr>
            <a:solidFill>
              <a:srgbClr val="0284C7"/>
            </a:solidFill>
            <a:ln w="38100" cap="flat">
              <a:solidFill>
                <a:srgbClr val="0284C7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84C7"/>
              </a:solidFill>
              <a:ln w="9525" cap="flat">
                <a:solidFill>
                  <a:srgbClr val="0284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د1</c:v>
                  </c:pt>
                  <c:pt idx="1">
                    <c:v>د2</c:v>
                  </c:pt>
                  <c:pt idx="2">
                    <c:v>د3</c:v>
                  </c:pt>
                  <c:pt idx="3">
                    <c:v>د4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3.33</c:v>
                </c:pt>
                <c:pt idx="1">
                  <c:v>4.5</c:v>
                </c:pt>
                <c:pt idx="2">
                  <c:v>4.5</c:v>
                </c:pt>
                <c:pt idx="3">
                  <c:v>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حكير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د1</c:v>
                  </c:pt>
                  <c:pt idx="1">
                    <c:v>د2</c:v>
                  </c:pt>
                  <c:pt idx="2">
                    <c:v>د3</c:v>
                  </c:pt>
                  <c:pt idx="3">
                    <c:v>د4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4.13</c:v>
                </c:pt>
                <c:pt idx="2">
                  <c:v>4.5</c:v>
                </c:pt>
                <c:pt idx="3">
                  <c:v>4.5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خالد</c:v>
                </c:pt>
              </c:strCache>
            </c:strRef>
          </c:tx>
          <c:spPr>
            <a:solidFill>
              <a:srgbClr val="E11D48"/>
            </a:solidFill>
            <a:ln w="3810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د1</c:v>
                  </c:pt>
                  <c:pt idx="1">
                    <c:v>د2</c:v>
                  </c:pt>
                  <c:pt idx="2">
                    <c:v>د3</c:v>
                  </c:pt>
                  <c:pt idx="3">
                    <c:v>د4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4.67</c:v>
                </c:pt>
                <c:pt idx="1">
                  <c:v>4.6</c:v>
                </c:pt>
                <c:pt idx="2">
                  <c:v>4</c:v>
                </c:pt>
                <c:pt idx="3">
                  <c:v>3.25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طلال</c:v>
                </c:pt>
              </c:strCache>
            </c:strRef>
          </c:tx>
          <c:spPr>
            <a:solidFill>
              <a:srgbClr val="7C3AED"/>
            </a:solidFill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د1</c:v>
                  </c:pt>
                  <c:pt idx="1">
                    <c:v>د2</c:v>
                  </c:pt>
                  <c:pt idx="2">
                    <c:v>د3</c:v>
                  </c:pt>
                  <c:pt idx="3">
                    <c:v>د4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4.5</c:v>
                </c:pt>
                <c:pt idx="1">
                  <c:v>3.67</c:v>
                </c:pt>
                <c:pt idx="2">
                  <c:v>4.03</c:v>
                </c:pt>
                <c:pt idx="3">
                  <c:v>3.25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2"/>
          <c:min val="3"/>
        </c:scaling>
        <c:delete val="0"/>
        <c:axPos val="l"/>
        <c:majorGridlines>
          <c:spPr>
            <a:ln w="1270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المتوسط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حكير</c:v>
                  </c:pt>
                  <c:pt idx="1">
                    <c:v>هشام</c:v>
                  </c:pt>
                  <c:pt idx="2">
                    <c:v>طلال</c:v>
                  </c:pt>
                  <c:pt idx="3">
                    <c:v>نواف</c:v>
                  </c:pt>
                  <c:pt idx="4">
                    <c:v>خالد</c:v>
                  </c:pt>
                  <c:pt idx="5">
                    <c:v>شوكا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3.07</c:v>
                </c:pt>
                <c:pt idx="1">
                  <c:v>3.4</c:v>
                </c:pt>
                <c:pt idx="2">
                  <c:v>3.69</c:v>
                </c:pt>
                <c:pt idx="3">
                  <c:v>4</c:v>
                </c:pt>
                <c:pt idx="4">
                  <c:v>4.35</c:v>
                </c:pt>
                <c:pt idx="5">
                  <c:v>4.81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4"/>
          <c:min val="0"/>
        </c:scaling>
        <c:delete val="0"/>
        <c:axPos val="b"/>
        <c:majorGridlines>
          <c:spPr>
            <a:ln w="1270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حكير ← طلال</c:v>
                </c:pt>
              </c:strCache>
            </c:strRef>
          </c:tx>
          <c:spPr>
            <a:solidFill>
              <a:srgbClr val="E11D48"/>
            </a:solidFill>
            <a:ln w="3810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د2</c:v>
                  </c:pt>
                  <c:pt idx="1">
                    <c:v>د3</c:v>
                  </c:pt>
                  <c:pt idx="2">
                    <c:v>د3</c:v>
                  </c:pt>
                  <c:pt idx="3">
                    <c:v>د4</c:v>
                  </c:pt>
                  <c:pt idx="4">
                    <c:v>د5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طلال ← حكير</c:v>
                </c:pt>
              </c:strCache>
            </c:strRef>
          </c:tx>
          <c:spPr>
            <a:solidFill>
              <a:srgbClr val="0284C7"/>
            </a:solidFill>
            <a:ln w="38100" cap="flat">
              <a:solidFill>
                <a:srgbClr val="0284C7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284C7"/>
              </a:solidFill>
              <a:ln w="9525" cap="flat">
                <a:solidFill>
                  <a:srgbClr val="0284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د2</c:v>
                  </c:pt>
                  <c:pt idx="1">
                    <c:v>د3</c:v>
                  </c:pt>
                  <c:pt idx="2">
                    <c:v>د3</c:v>
                  </c:pt>
                  <c:pt idx="3">
                    <c:v>د4</c:v>
                  </c:pt>
                  <c:pt idx="4">
                    <c:v>د5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/>
                </c:pt>
                <c:pt idx="3">
                  <c:v>4</c:v>
                </c:pt>
                <c:pt idx="4">
                  <c:v/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المعدل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نواف</c:v>
                  </c:pt>
                  <c:pt idx="1">
                    <c:v>شوكا</c:v>
                  </c:pt>
                  <c:pt idx="2">
                    <c:v>طلال</c:v>
                  </c:pt>
                  <c:pt idx="3">
                    <c:v>خالد</c:v>
                  </c:pt>
                  <c:pt idx="4">
                    <c:v>هشام</c:v>
                  </c:pt>
                  <c:pt idx="5">
                    <c:v>حكير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3.29</c:v>
                </c:pt>
                <c:pt idx="1">
                  <c:v>3.85</c:v>
                </c:pt>
                <c:pt idx="2">
                  <c:v>3.86</c:v>
                </c:pt>
                <c:pt idx="3">
                  <c:v>4.13</c:v>
                </c:pt>
                <c:pt idx="4">
                  <c:v>4.23</c:v>
                </c:pt>
                <c:pt idx="5">
                  <c:v>4.53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2"/>
          <c:min val="0"/>
        </c:scaling>
        <c:delete val="0"/>
        <c:axPos val="b"/>
        <c:majorGridlines>
          <c:spPr>
            <a:ln w="1270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التقييم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نواف</c:v>
                  </c:pt>
                  <c:pt idx="1">
                    <c:v>هشام</c:v>
                  </c:pt>
                  <c:pt idx="2">
                    <c:v>حكير</c:v>
                  </c:pt>
                  <c:pt idx="3">
                    <c:v>شوكا</c:v>
                  </c:pt>
                  <c:pt idx="4">
                    <c:v>طلال</c:v>
                  </c:pt>
                  <c:pt idx="5">
                    <c:v>خالد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</c:v>
                </c:pt>
                <c:pt idx="1">
                  <c:v>79</c:v>
                </c:pt>
                <c:pt idx="2">
                  <c:v>79</c:v>
                </c:pt>
                <c:pt idx="3">
                  <c:v>89</c:v>
                </c:pt>
                <c:pt idx="4">
                  <c:v>94</c:v>
                </c:pt>
                <c:pt idx="5">
                  <c:v>94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قبل</c:v>
                </c:pt>
              </c:strCache>
            </c:strRef>
          </c:tx>
          <c:spPr>
            <a:solidFill>
              <a:srgbClr val="78716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نواف</c:v>
                  </c:pt>
                  <c:pt idx="1">
                    <c:v>طلال</c:v>
                  </c:pt>
                  <c:pt idx="2">
                    <c:v>شوكا</c:v>
                  </c:pt>
                  <c:pt idx="3">
                    <c:v>خالد</c:v>
                  </c:pt>
                  <c:pt idx="4">
                    <c:v>هشام</c:v>
                  </c:pt>
                  <c:pt idx="5">
                    <c:v>حكير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3.29</c:v>
                </c:pt>
                <c:pt idx="1">
                  <c:v>3.7</c:v>
                </c:pt>
                <c:pt idx="2">
                  <c:v>3.95</c:v>
                </c:pt>
                <c:pt idx="3">
                  <c:v>4.14</c:v>
                </c:pt>
                <c:pt idx="4">
                  <c:v>4.23</c:v>
                </c:pt>
                <c:pt idx="5">
                  <c:v>4.45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بعد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نواف</c:v>
                  </c:pt>
                  <c:pt idx="1">
                    <c:v>طلال</c:v>
                  </c:pt>
                  <c:pt idx="2">
                    <c:v>شوكا</c:v>
                  </c:pt>
                  <c:pt idx="3">
                    <c:v>خالد</c:v>
                  </c:pt>
                  <c:pt idx="4">
                    <c:v>هشام</c:v>
                  </c:pt>
                  <c:pt idx="5">
                    <c:v>حكير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3.73</c:v>
                </c:pt>
                <c:pt idx="1">
                  <c:v>4.21</c:v>
                </c:pt>
                <c:pt idx="2">
                  <c:v>3.93</c:v>
                </c:pt>
                <c:pt idx="3">
                  <c:v>4.42</c:v>
                </c:pt>
                <c:pt idx="4">
                  <c:v>4.56</c:v>
                </c:pt>
                <c:pt idx="5">
                  <c:v>4.77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6"/>
          <c:min val="0"/>
        </c:scaling>
        <c:delete val="0"/>
        <c:axPos val="b"/>
        <c:majorGridlines>
          <c:spPr>
            <a:ln w="1270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مبني بالكامل على بيانات التطبيق الحقيقية، لا على انطباعات.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مقدّمة بأسلوب المخاطبات — عدّل النص كما تشاء.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نداء المعركة — يُعرض قبل الدخول في الأرقام، أو يُستخدم كشريحة افتتاح بديلة.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المادة (1) من الدستور — وصف ومكانة عميد الدستور.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الدورة الخامسة ما زالت جارية — ثلاث طلعات من 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النقطة: الأمجاد القديمة تزن بقدر المستوى الحالي تماماً — وهذا غير عادل للمتحسّنين.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بترتيبها الزمني — وهي مفتاح الشريحة التالية.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استراحة — تخفّف الجو بعد قسم الحرب وقبل الترتيب.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المواد سارية من الدورة السادسة، وتُراجَع في نهاية كل دورة.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852160" cy="5852160"/>
          </a:xfrm>
          <a:prstGeom prst="ellipse">
            <a:avLst/>
          </a:prstGeom>
          <a:solidFill>
            <a:srgbClr val="3D2E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دستور عرش الخميس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النسخة الثانية عشرة — إصلاح نظام الترتيب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مواد مبنية على تحليل 94 تقييماً و31 طلعة عبر خمس دورات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أغسطس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457200"/>
            <a:ext cx="1051560" cy="1051560"/>
          </a:xfrm>
          <a:prstGeom prst="ellipse">
            <a:avLst/>
          </a:prstGeom>
          <a:solidFill>
            <a:srgbClr val="F3E3BE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469880" y="457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9A7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عرش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9A7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الخميس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9A7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 عميدِ الدستور شوكا، إلى ملوكِ عرشِ الخميس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السلامُ على مَنِ اتّبعَ الهُدى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957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9A7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أمّا بعد،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فإنّا جمعنا إحدى وثلاثين طلعةً وأربعةً وتسعين تقييماً، ونظرنا فيها نظرَ المُنصِف، فوجدنا الميزانَ يميلُ بغير ما يشتهي أصحابُه: مقياسٌ عند هذا غيرُ مقياسِ ذاك، وطلعةٌ واحدةٌ تَهدِمُ عاماً كاملاً، وخصومةٌ بين اثنين يدفعُ ثمنَها الستة.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690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B2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وإنّا ندعوكم إلى ميزانٍ واحدٍ ترضونه قبل أن تعلموا لمن سيميل. فإن قَبِلتُم سَلِمَت الشِّلّةُ وبقيت الطلعات، وإن أبَيتُم فما بعد الأرقامِ حُجّة.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0" y="5138928"/>
            <a:ext cx="2377440" cy="13716"/>
          </a:xfrm>
          <a:prstGeom prst="rect">
            <a:avLst/>
          </a:prstGeom>
          <a:solidFill>
            <a:srgbClr val="D6C7A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5349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9A7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وقد أَعذَرَ مَن أَنذَر.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08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5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حُرِّرَ في شهر أغسطس من عام 2026  ·  النسخة الثانية عشرة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-2926080"/>
            <a:ext cx="8229600" cy="8229600"/>
          </a:xfrm>
          <a:prstGeom prst="ellipse">
            <a:avLst/>
          </a:prstGeom>
          <a:solidFill>
            <a:srgbClr val="2A1114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743200"/>
            <a:ext cx="7498080" cy="7498080"/>
          </a:xfrm>
          <a:prstGeom prst="ellipse">
            <a:avLst/>
          </a:prstGeom>
          <a:solidFill>
            <a:srgbClr val="2A111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الدورة السادسة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يبقَ إلا فصلٌ واحد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ستة ملوك.  عرشٌ واحد.  ودورةٌ سادسةٌ تزن ضعفين ونصفاً.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77200" y="2697480"/>
            <a:ext cx="3444240" cy="1371600"/>
          </a:xfrm>
          <a:prstGeom prst="roundRect">
            <a:avLst>
              <a:gd name="adj" fmla="val 6667"/>
            </a:avLst>
          </a:prstGeom>
          <a:solidFill>
            <a:srgbClr val="1C1414"/>
          </a:solidFill>
          <a:ln w="12700">
            <a:solidFill>
              <a:srgbClr val="3F24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77200" y="2852928"/>
            <a:ext cx="344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14360" y="3493008"/>
            <a:ext cx="316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يفصل الأول عن الثاني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8640" y="2697480"/>
            <a:ext cx="3444240" cy="1371600"/>
          </a:xfrm>
          <a:prstGeom prst="roundRect">
            <a:avLst>
              <a:gd name="adj" fmla="val 6667"/>
            </a:avLst>
          </a:prstGeom>
          <a:solidFill>
            <a:srgbClr val="1C1414"/>
          </a:solidFill>
          <a:ln w="12700">
            <a:solidFill>
              <a:srgbClr val="3F24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58640" y="2852928"/>
            <a:ext cx="344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495800" y="3493008"/>
            <a:ext cx="316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تمنحه عزيمة البيت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3444240" cy="1371600"/>
          </a:xfrm>
          <a:prstGeom prst="roundRect">
            <a:avLst>
              <a:gd name="adj" fmla="val 6667"/>
            </a:avLst>
          </a:prstGeom>
          <a:solidFill>
            <a:srgbClr val="1C1414"/>
          </a:solidFill>
          <a:ln w="12700">
            <a:solidFill>
              <a:srgbClr val="3F24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852928"/>
            <a:ext cx="344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×2.5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493008"/>
            <a:ext cx="316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الدورة السادسة وحدها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عزم في بيته تُوِّج.  ومن كرّر مطعماً سقط.  ومن تأخّر عن الحسم خسر دوره.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74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تُورَث هذه السنة — تُنتزَع.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الميدان مفتوح  ·  والحساب يبدأ من الطلعة القادمة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عرش الخميس — من نحن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 أشخاص، طلعة كل أسبوع، وملك يتناوب على اختيار المطعم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875520" y="1737360"/>
            <a:ext cx="16459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97312" y="1938528"/>
            <a:ext cx="402336" cy="402336"/>
          </a:xfrm>
          <a:prstGeom prst="ellipse">
            <a:avLst/>
          </a:prstGeom>
          <a:solidFill>
            <a:srgbClr val="D6D3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97312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66960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خالد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2889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4.14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28432" y="1737360"/>
            <a:ext cx="16459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50224" y="1938528"/>
            <a:ext cx="402336" cy="402336"/>
          </a:xfrm>
          <a:prstGeom prst="ellipse">
            <a:avLst/>
          </a:prstGeom>
          <a:solidFill>
            <a:srgbClr val="D6D3D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50224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طلال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2889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3.70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119872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737360"/>
            <a:ext cx="1645920" cy="21031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1938528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0313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شوكا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889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3.95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عميد الدستور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34256" y="1737360"/>
            <a:ext cx="16459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938528"/>
            <a:ext cx="402336" cy="402336"/>
          </a:xfrm>
          <a:prstGeom prst="ellipse">
            <a:avLst/>
          </a:prstGeom>
          <a:solidFill>
            <a:srgbClr val="D6D3D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25696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حكير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425696" y="2889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425696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87168" y="1737360"/>
            <a:ext cx="16459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938528"/>
            <a:ext cx="402336" cy="402336"/>
          </a:xfrm>
          <a:prstGeom prst="ellipse">
            <a:avLst/>
          </a:prstGeom>
          <a:solidFill>
            <a:srgbClr val="D6D3D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08960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578608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هشام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578608" y="2889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2578608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1737360"/>
            <a:ext cx="16459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261872" y="1938528"/>
            <a:ext cx="402336" cy="402336"/>
          </a:xfrm>
          <a:prstGeom prst="ellipse">
            <a:avLst/>
          </a:prstGeom>
          <a:solidFill>
            <a:srgbClr val="D6D3D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261872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نواف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2889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3.29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041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الترتيب أعلاه هو ترتيب التتويج — من يتولّى العرش أولاً في كل دورة. والرقم هو معدّله الحالي.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46720" y="45262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835640" y="475488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83564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4773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الملك يختار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257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الدور يحدّد المطعم واليوم، وله أن يفتح تصويتاً أو يحكم منفرداً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343400" y="45262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32320" y="4754880"/>
            <a:ext cx="402336" cy="40233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13232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617720" y="4773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النصاب شرط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4617720" y="5257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تُحتسب الطلعة إلا بحضور آكلَين غير الملك — والحضور الشرفي لا يُعد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" y="45262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429000" y="475488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42900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4773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سرّي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" y="5257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من ذاق يمنح من 1 إلى 5، وهوية المصوّت لا يعرفها إلا العميد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4754880" cy="4754880"/>
          </a:xfrm>
          <a:prstGeom prst="ellipse">
            <a:avLst/>
          </a:prstGeom>
          <a:solidFill>
            <a:srgbClr val="332811"/>
          </a:solidFill>
          <a:ln/>
        </p:spPr>
      </p:sp>
      <p:sp>
        <p:nvSpPr>
          <p:cNvPr id="3" name="Shape 1"/>
          <p:cNvSpPr/>
          <p:nvPr/>
        </p:nvSpPr>
        <p:spPr>
          <a:xfrm>
            <a:off x="9427464" y="557784"/>
            <a:ext cx="1993392" cy="199339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" name="Image 0" descr="/home/user/kings2/deck/.cache/sq_شوكا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603504"/>
            <a:ext cx="1901952" cy="1901952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7498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عميد الدستور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8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شوكا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762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ملك التذوق الأعظم لعام 2026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237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المؤتمن على المصالح العليا للمجموعة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935224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2A2522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844784" y="309067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84478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063240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 الأول والأخير في تفسير الدستور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وإليه يُرفع كل خلاف في قراءة بنوده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849624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2A2522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844784" y="400507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844784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977640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السلطة التشريعية — الصوت الوحيد بحق التعديل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تُعدَّل مادة إلا بقراره ومعه موافقة عضوين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4764024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2A2522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844784" y="491947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844784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892040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صلاحية المصلحة العليا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230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له وحده أن يثني أي قانون عادي أو يمنح استثناءً طارئاً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5678424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2A2522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844784" y="583387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844784" y="5833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5806440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النتائج والسجلات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61447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يُيسّر الطلعات ويحدّث النتائج بسرية وأمانة — فضلاً لا أمراً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الأسباب التاريخية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أوصلنا إلى هنا؟ ثلاثة اكتشافات من البيانات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الرحلة بالأرقام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سجّله التطبيق منذ أول طلعة موثّقة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418320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55480" y="183794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555480" y="2532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طلعة مسجّلة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83794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532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مطعماً مختلفاً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03320" y="183794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532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دورات كاملة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183794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532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تقييماً موثّقاً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طلعات كل دورة</a:t>
            </a:r>
            <a:endParaRPr lang="en-US" sz="1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931920"/>
          <a:ext cx="10881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 الطلعات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تقوله السجلات عن عاداتنا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0" y="164592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D1FAE5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9224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ثلاث طلعات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ماما نورة — حكير — 5.00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6883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بيت شوكا — شوكا — 5.00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30723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فيردي — حكير — 5.00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5303520" cy="1965960"/>
          </a:xfrm>
          <a:prstGeom prst="roundRect">
            <a:avLst>
              <a:gd name="adj" fmla="val 4186"/>
            </a:avLst>
          </a:prstGeom>
          <a:solidFill>
            <a:srgbClr val="FFE4E6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أدنى ثلاث طلعات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MOLT — نواف — 2.00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6883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مطعم الشرفه — طلال — 2.75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0723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Steak house — خالد — 3.25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84048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35640" y="406908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83564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087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الخميس 23 · الجمعة 7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59028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الطلعة — الخميس يحكم، والجمعة بديل متكرر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84048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4069080"/>
            <a:ext cx="402336" cy="40233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087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59028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الحضور الإجمالية — 40 اعتذاراً من 186 حضوراً ممكناً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406908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087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مطاعم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59028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تكرّرت زيارتها: مستر برياني · كوجة · سوله · Buffalo · Steak house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كل ملك عبر الدورات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هشام في صعود مستمر، وخالد وطلال في هبوط — والمعدّل الحالي يعامل كل الدورات سواء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 الأول: كل واحد له مسطرة مختلفة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ما يمنحه كل عضو من درجات — الفارق بين أقسى وأكرم مقيّم 1.74 درجة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206240" y="16002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600200"/>
            <a:ext cx="3291840" cy="4206240"/>
          </a:xfrm>
          <a:prstGeom prst="round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يعني هذا؟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77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مطعمك يُحكم عليه بمن صادف أن قيّمه، لا بجودته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00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قيّمك شوكا ربحت، ولو قيّمك حكير خسرت — والمطعم واحد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الحرب ليست عناداً، بل رد فعل منطقي على مقياس غير موحّد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طرفا النزاع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الأرقام — من هما، وماذا يقول سجلّهما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0" y="1874520"/>
            <a:ext cx="2194560" cy="21945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/home/user/kings2/deck/.cache/sq_حكير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920240"/>
            <a:ext cx="2103120" cy="210312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0" y="4178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حكير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4599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المتصدّر · 4.45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05840" y="1874520"/>
            <a:ext cx="2194560" cy="2194560"/>
          </a:xfrm>
          <a:prstGeom prst="ellipse">
            <a:avLst/>
          </a:prstGeom>
          <a:solidFill>
            <a:srgbClr val="0284C7"/>
          </a:solidFill>
          <a:ln/>
        </p:spPr>
      </p:sp>
      <p:pic>
        <p:nvPicPr>
          <p:cNvPr id="9" name="Image 1" descr="/home/user/kings2/deck/.cache/sq_طلال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20240"/>
            <a:ext cx="2103120" cy="2103120"/>
          </a:xfrm>
          <a:prstGeom prst="ellipse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4178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طلال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599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الخامس · 3.70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ضد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3566160" y="2926080"/>
            <a:ext cx="3291840" cy="1143000"/>
          </a:xfrm>
          <a:prstGeom prst="roundRect">
            <a:avLst>
              <a:gd name="adj" fmla="val 7200"/>
            </a:avLst>
          </a:prstGeom>
          <a:solidFill>
            <a:srgbClr val="FFE4E6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703320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طلعات تبادلا فيها التقييم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وثلاث طلعات في الاتجاه الآخر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EF3C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960120" y="5596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حكير أعطى طلال: 3 · 3 · 4 · 1 · 1     |     طلال أعطى حكير: 2 · 3 · 4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 الثاني: خريطة العداوة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ينزل كل عضو تحت متوسطه الشخصي حين يقيّم خصمه — بعد استبعاد أثر كونه قاسياً أو كريماً أصلاً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0" y="178308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E4E6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9224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حكير  ↔  طلال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2487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حكير ينزل 0.67   ·   طلال ينزل 0.69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عداوة متبادلة شبه متكافئة — كلاهما يخسر بالقدر نفسه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EF3C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شوكا  ↔  نواف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87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شوكا ينزل 0.31   ·   نواف ينزل 1.00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عداوة خفية لم ينتبه لها أحد — أقوى من طرفَي الحرب المعلنة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40050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بقيت عداوة نواف مخفية؟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4348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 نواف يقيّم 37% فقط من الطلعات. أثره الحقيقي مكتوم خلف غيابه عن التصويت — وهذا بالضبط ما تعالجه مسألة المشاركة.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تشريح الحرب: من صعّد فعلاً؟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تسلسل تقييمات حكير وطلال لبعضهما عبر الدورات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881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006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5029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طلال لم يمنح حكير درجة 1 ولا مرة في التاريخ كله — أسوأ ما أعطاه 2، وآخر تقييم منحه كان 4.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4681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وصف «حرب متبادلة» غير دقيق: طلال يهدّئ وحكير يصعّد. تصحيح هذا الالتباس وحده قد ينهي النزاع.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 الثالث: صوت واحد يقلب طلعة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يهبط معدّل الطلعة حين يمنحها شخص واحد درجة 1 بدل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528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مقيّمين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ضرر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7200" y="1691640"/>
            <a:ext cx="33528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50080" y="1920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مقيّمين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50080" y="2331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450080" y="32918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ضرر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94320" y="1691640"/>
            <a:ext cx="33528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77200" y="19202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مقيّمين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77200" y="2331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077200" y="32918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ضرر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D1FAE5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434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 زاد عدد المقيّمين، ضعُف أثر أي مخرّب — دون أي سياسة ولا خصام.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المشاركة اليوم 3.9 من 5. رفعه إلى 5 يقلّص قوة أي تصويت انتقامي بنسبة 40%.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ما لها داعي… بس حلوة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استراحة قصيرة قبل ما نرجع للجد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46720" y="1691640"/>
            <a:ext cx="3474720" cy="2121408"/>
          </a:xfrm>
          <a:prstGeom prst="roundRect">
            <a:avLst>
              <a:gd name="adj" fmla="val 3879"/>
            </a:avLst>
          </a:prstGeom>
          <a:solidFill>
            <a:srgbClr val="FEF3C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75320" y="18928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24780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عزائم البيوت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302752" y="286207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 3.87 للمطاعم. ثلاث عزائم بيوت فقط، وكلها في قمة السجل. الخلاصة: بيوتكم أطيب من مطاعم الرياض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74720" cy="2121408"/>
          </a:xfrm>
          <a:prstGeom prst="roundRect">
            <a:avLst>
              <a:gd name="adj" fmla="val 3879"/>
            </a:avLst>
          </a:prstGeom>
          <a:solidFill>
            <a:srgbClr val="E0F2FE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8928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الجمعة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780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أفضل من الخميس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86207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 مقابل 3.94. اسم المجموعة «ملك الخميس» ويومكم الأحلى هو الجمعة. نفكّر في تغيير الاسم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691640"/>
            <a:ext cx="3474720" cy="2121408"/>
          </a:xfrm>
          <a:prstGeom prst="roundRect">
            <a:avLst>
              <a:gd name="adj" fmla="val 3879"/>
            </a:avLst>
          </a:prstGeom>
          <a:solidFill>
            <a:srgbClr val="FEF3C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18928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4780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أصوات شوكا خمسات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86207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العميد لم يمنح درجة 3 ولا مرة في تاريخه — ثلاث عشرة خمسة من ست عشرة. تقييم أم مجاملة؟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4069080"/>
            <a:ext cx="3474720" cy="2121408"/>
          </a:xfrm>
          <a:prstGeom prst="roundRect">
            <a:avLst>
              <a:gd name="adj" fmla="val 3879"/>
            </a:avLst>
          </a:prstGeom>
          <a:solidFill>
            <a:srgbClr val="FFE4E6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75320" y="42702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4855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اعتذار لنواف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523951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ضعف أي عضو آخر (طلال وحكير 6 لكل واحد). حضوره نادر، لكن أثر غيابه على الترتيب ليس نادراً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069080"/>
            <a:ext cx="3474720" cy="2121408"/>
          </a:xfrm>
          <a:prstGeom prst="roundRect">
            <a:avLst>
              <a:gd name="adj" fmla="val 3879"/>
            </a:avLst>
          </a:prstGeom>
          <a:solidFill>
            <a:srgbClr val="EDE9FE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72000" y="42702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855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المطاعم المكرّرة نزلت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523951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من خمسة. Buffalo هبط من 4.67 إلى 3.25، وكوجة من 4.60 إلى 3.60. التكرار يقتل الحماس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69080"/>
            <a:ext cx="3474720" cy="2121408"/>
          </a:xfrm>
          <a:prstGeom prst="roundRect">
            <a:avLst>
              <a:gd name="adj" fmla="val 3879"/>
            </a:avLst>
          </a:prstGeom>
          <a:solidFill>
            <a:srgbClr val="FFE4E6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2702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3.56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855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معدّل الدورة الخامسة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23951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كان 4.00 في الثانية والثالثة. ليست المطاعم التي ساءت — نحن الذين صرنا أقسى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الحالي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نقف اليوم، وما الذي تكشفه أرقام الحرب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الترتيب الحالي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معدّلات الدورات المكتملة الأربع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الحرب: مطعم الشرفه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طلعة طلال في الدورة الخامسة — أدنى تقييم في تاريخ المجموعة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917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حكير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360420" y="1691640"/>
            <a:ext cx="24917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3300" y="1874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هشام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22402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24917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874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خالد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402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8801100" y="1691640"/>
            <a:ext cx="24917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83980" y="18745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شوكا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83980" y="2240280"/>
            <a:ext cx="2125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881360" cy="2011680"/>
          </a:xfrm>
          <a:prstGeom prst="roundRect">
            <a:avLst>
              <a:gd name="adj" fmla="val 4091"/>
            </a:avLst>
          </a:prstGeom>
          <a:solidFill>
            <a:srgbClr val="FFE4E6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3931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المحصّلة: 2.75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434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طلعة واحدة أنزلت طلال من المركز الرابع إلى الخامس. وسبقتها ماء ورد بالنمط نفسه في الدورة الرابعة.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9560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المادة (12) — الطلعة المعفوّة — كانت هذه الليلة ستسقط تلقائياً ولا يبقى لها أثر.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فجوة المشاركة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الطلعات التي قيّمها كل عضو من أصل ما يحق له تقييمه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206240" y="16002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600200"/>
            <a:ext cx="3291840" cy="4206240"/>
          </a:xfrm>
          <a:prstGeom prst="roundRect">
            <a:avLst>
              <a:gd name="adj" fmla="val 2500"/>
            </a:avLst>
          </a:prstGeom>
          <a:solidFill>
            <a:srgbClr val="E0F2FE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نواف: 7 من 19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غيابه عن التصويت وحده يكفي لإسقاط المتصدّر من المركز الأول إلى الثالث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66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العضو الأخير في الترتيب يملك قرار من يفوز — دون أن يدلي بصوت واحد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المواد الأربع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يتغيّر في الدستور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(12) والمادة (13)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D1FAE5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35640" y="14173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35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الطلعة المعفوّة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9019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تُسقَط أسوأ طلعة واحدة من سجل كل ملك عند احتساب الترتيب، بشرط أن يكون في سجله أربع طلعات فأكثر.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957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الأثر: أي هجوم منسّق على ليلة واحدة يسقط تلقائياً، فلا يُحاسَب أحد عمراً كاملاً على ليلة واحدة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2377440"/>
          </a:xfrm>
          <a:prstGeom prst="roundRect">
            <a:avLst>
              <a:gd name="adj" fmla="val 3462"/>
            </a:avLst>
          </a:prstGeom>
          <a:solidFill>
            <a:srgbClr val="E0F2FE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35640" y="374904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835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490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التنحّي لتعارض المصالح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2336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ثبتت خصومة بين عضوين، لا يُحتسب تقييم أيٍّ منهما على طلعة الآخر — بقرار العميد وموافقة عضوين.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7365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الحماية — لا يُطبَّق التنحّي إذا كان سيُبقي الطلعة بأقل من ثلاثة مقيّمين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اختبار المادة بلا هذا الشرط، بلغ معدّل أحد الملوك 5.00 كاملة من مقيّم واحد فقط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 (14) والمادة (15)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EDE9FE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35640" y="14173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35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417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ترجيح الدورة الأخيرة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9019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تُحتسب الدورة الختامية للسنة (السادسة) بوزن 2.5 — كأنها دورتان ونصف — وباقي الدورات بوزن 1، ولا تدخل دورة الحساب قبل أن يلعبها الستة.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957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الأثر: الدورة الجارية تحسم الترتيب أكثر من كل ما سبقها — من تحسّن يصعد بسرعة، ومن تراجع ينزل بسرعة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2377440"/>
          </a:xfrm>
          <a:prstGeom prst="roundRect">
            <a:avLst>
              <a:gd name="adj" fmla="val 3462"/>
            </a:avLst>
          </a:prstGeom>
          <a:solidFill>
            <a:srgbClr val="FFE4E6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35640" y="374904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835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490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بطلان التواطؤ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233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اتفاق مسبق على منح درجة محدّدة لشخص بعينه — بصرف النظر عن التجربة — باطل ولا أثر له، سواء أُبرم قبل هذا الدستور أو بعده.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7731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الجزاء: يُلغى تقييم المتواطئ على تلك الطلعة، وعند التكرار لبقية الدورة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572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بيد العميد وموافقة عضوين، وفق آلية المادة (1)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9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على الأرقام الحقيقية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الترتيب قبل التعديلات وبعدها — محسوباً على كل بيانات التطبيق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52852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المراكز الأربعة الأولى كما هي. التغيير الوحيد: طلال يصعد للرابع وشوكا ينزل للخامس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المستفيدين نواف (+0.44) وطلال (+0.51) — وهما ضحيّتا الحرب. وصاحب الاقتراح الوحيد الذي يخسر مركزاً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3D2E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10881360" cy="1115568"/>
          </a:xfrm>
          <a:prstGeom prst="roundRect">
            <a:avLst>
              <a:gd name="adj" fmla="val 7377"/>
            </a:avLst>
          </a:prstGeom>
          <a:solidFill>
            <a:srgbClr val="2A2522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44784" y="203911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44784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11680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الحرب ليست عناداً — بل رد فعل على مقياس غير موحّد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50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الفارق بين أقسى وأكرم مقيّم 1.74 درجة، وهو أكبر من الفارق بين أي مركزين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881360" cy="1115568"/>
          </a:xfrm>
          <a:prstGeom prst="roundRect">
            <a:avLst>
              <a:gd name="adj" fmla="val 7377"/>
            </a:avLst>
          </a:prstGeom>
          <a:solidFill>
            <a:srgbClr val="2A2522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44784" y="324612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844784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18688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المواد الأربع تنزع السلاح دون أن تمسّ أحداً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570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تُسكت صوتاً ولا تُغيّر مركزاً — تعالج الآلية لا الأشخاص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881360" cy="1115568"/>
          </a:xfrm>
          <a:prstGeom prst="roundRect">
            <a:avLst>
              <a:gd name="adj" fmla="val 7377"/>
            </a:avLst>
          </a:prstGeom>
          <a:solidFill>
            <a:srgbClr val="2A2522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44784" y="4453128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844784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425696"/>
            <a:ext cx="9784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تدخل حيّز التنفيذ فور اعتمادها من عميد الدستور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6402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وتُراجَع في نهاية كل دورة، ويُلغى منها ما لم يُجدَّد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سارية اعتباراً من الدورة السادسة.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2026-08-28T15:06:25Z</dcterms:created>
  <dcterms:modified xsi:type="dcterms:W3CDTF">2026-08-28T15:06:25Z</dcterms:modified>
</cp:coreProperties>
</file>